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d788a698-2424-eb71-f8aa-bf2da25c8707}">
          <p14:sldIdLst>
            <p14:sldId id="256"/>
            <p14:sldId id="257"/>
          </p14:sldIdLst>
        </p14:section>
        <p14:section name="Solução" id="{c945e225-efcc-165a-f69a-33ea7028900e}">
          <p14:sldIdLst>
            <p14:sldId id="258"/>
            <p14:sldId id="259"/>
          </p14:sldIdLst>
        </p14:section>
        <p14:section name="Análise" id="{995229b4-06f8-6774-18aa-af079256705a}">
          <p14:sldIdLst>
            <p14:sldId id="260"/>
            <p14:sldId id="261"/>
            <p14:sldId id="262"/>
            <p14:sldId id="263"/>
          </p14:sldIdLst>
        </p14:section>
        <p14:section name="Resultados" id="{8144ff25-7443-135e-55f5-db80dd0265d0}">
          <p14:sldIdLst>
            <p14:sldId id="264"/>
            <p14:sldId id="265"/>
          </p14:sldIdLst>
        </p14:section>
        <p14:section name="Fechamento" id="{edaa9b7a-4f22-0c92-0679-eb290cec0a58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grupo. Endpoint Investigator: ferramenta de investigação para Linux que coleta processos, permissões e serviços, cruza essas fontes e entrega achados que separam evidência, interpretação, hipótese e evidência ausente. À direita, a saída real da ferramenta no cenário correlation.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enunciado não quer o maior número de vulnerabilidades, quer raciocínio. Por isso nenhum indicador isolado vira achado: o risco está na combinação identidade privilegiada + recurso usado + capacidade de modificação, como no exemplo do enunciado (serviço → root → script → gravável). RISCO exige pelo menos dois tipos de fonte; quando falta dado, a ferramenta diz INCONCLUSIVO.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fluxo segue exatamente o fluxo de referência do enunciado, com um módulo por etapa. Duas entradas — o dataset no formato do professor e a coleta ao vivo via /proc, systemctl show, os.lstat, journalctl, ss e cron — convergem para o mesmo Snapshot normalizado. Python 3.10+ só com biblioteca padrão. Código de saída: 0 sem RISCO, 1 com RISCO, 2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dimensões obrigatórias. Processos: não reproduzimos o ps — construímos a cadeia de ancestralidade com identidade em cada elo e descobrimos o script real executado pelo interpretador. Permissões: o conceito central é nonroot_writable, que considera também o diretório-pai (o arquivo pode ser substituído). Serviços: o vínculo processo↔serviço é feito por métodos em ordem de força, e o método usado é registrado.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enunciado pede no mínimo duas correlações; implementamos as quatro sugeridas, em investigator/correlate.py. Nenhuma conclui a partir de um indicador isolado. C2 no modo live também aponta porta em escuta sem serviço dedicado e UID real diferente do efetivo. C4 não gera RISCO sozinha: ela acrescenta a reconstrução temporal aos achados de C1 (C1+C4).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real. C1 monta a cadeia serviço → identidade → processo → arquivo → quem pode alterar. C4 coloca no tempo: o aluno faz login às 09:01:40, o script muda às 09:03:20 e o serviço root inicia às 09:05:00 — ou seja, o conteúdo atual pode já ter rodado como root. No cenário correlation o mtime é anterior ao login, e a ferramenta diz que não há indício de modificação durante a sessão.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critério de distinção entre evidência, interpretação e hipótese. Os quatro campos são separados na própria estrutura de dados (Finding), não só no texto. Cada linha de evidência começa pela origem: a linha do arquivo do dataset ou a interface do sistema consultada. A evidência ausente diz o que confirmaria ou rejeitaria a hipótese — aqui, hash do script e auditd.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Severidade é o impacto se a hipótese for verdadeira; confiança é quantos tipos de fonte independentes sustentam a relação observada — não a certeza da hipótese. RISCO exige duas fontes; com uma só, o achado é rebaixado para CONFIG_INADEQUADA ou INCONCLUSIVO e a fonte que falta entra em evidência ausente. Ocorrências com a mesma causa viram um único achado.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9 cenários nomeados do gerador do professor (com --scenario, que adicionamos, além da correção do random_noise). Os 4 cenários com relação de privilégio saem RISCO; os outros 5 não geram RISCO nenhum — inclusive privileged_service, em que o serviço é root mas só root altera o script. Em privileged_service o curl sai INCONCLUSIVO com o log do próprio serviço como contexto. A suíte tests/ tem 51 testes, todos passando.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em docs/demo.md. Antes: gerar os 7 cenários e rodar a suíte de testes. Parte 1 (Galazzi): --dump-snapshot no cenário correlation mostrando ancestry, unit_method, nonroot_writable, timeline e gaps. Parte 2 (Sardou): os 5 casos à esquerda. Ao vivo, com snapshot da VM tirado antes: setup_lab cria um caso positivo, um controle e dois inconclusivos; teardown_lab remove 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Decisões principais. O wall-clock sem fuso resolve um detalhe do dataset: os CSVs anexam -03:00 e o journal não, e sem normalizar não dá para comparar mtime com login. Corrigimos um bug do gerador do professor (random_noise reaproveitava o dict já construído) — detalhes em report_galazzi.md. IA foi usada no desenvolvimento; a ferramenta em si não tem etapa de LLM, atendendo à exigência do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enunciado pede que cada grupo indique onde a ferramenta pode errar. Falsos positivos e negativos estão documentados no README e no documento técnico, e as lacunas de cada execução aparecem no próprio relatório. Uma boa ferramenta de investigação reconhece quando não há evidência suficiente.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Perguntas prováveis (docs/demo.md): por que serviço root com 0700 não é achado (só root modifica o recurso); como sabem que o aluno alterou o script (não sabemos — está em evidência ausente, e o mtime pode ser forjado); o que é confiança alta (três ou mais tipos de fonte independentes sustentando a relação observada).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00200"/>
            <a:ext cx="63093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6126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Endpoint Investigator · Tecnologias Hackers · Insper 2026.2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_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80160"/>
            <a:ext cx="108813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46120"/>
            <a:ext cx="10058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sciplina"/>
          <p:cNvSpPr txBox="1"/>
          <p:nvPr/>
        </p:nvSpPr>
        <p:spPr>
          <a:xfrm>
            <a:off x="640080" y="11887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TECNOLOGIAS HACKERS · AVALIAÇÃO INTERMEDIÁRIA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60020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Endpoint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Investigator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47472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Coleta, correlaciona e interpreta processos, permissões e serviços de um endpoint Linux — separando o que foi observado do que é hipótese</a:t>
            </a:r>
            <a:endParaRPr lang="en-US" sz="2000" dirty="0"/>
          </a:p>
        </p:txBody>
      </p:sp>
      <p:sp>
        <p:nvSpPr>
          <p:cNvPr id="5" name="Autores"/>
          <p:cNvSpPr txBox="1"/>
          <p:nvPr/>
        </p:nvSpPr>
        <p:spPr>
          <a:xfrm>
            <a:off x="640080" y="48920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Gabriel Galazzi · João Pedro Sardou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Prof. Rodolfo Avelino · Insper · 06/10/2026</a:t>
            </a:r>
            <a:endParaRPr lang="en-US" sz="1400" dirty="0"/>
          </a:p>
        </p:txBody>
      </p:sp>
      <p:sp>
        <p:nvSpPr>
          <p:cNvPr id="6" name="Terminal"/>
          <p:cNvSpPr/>
          <p:nvPr/>
        </p:nvSpPr>
        <p:spPr>
          <a:xfrm>
            <a:off x="7178040" y="1188720"/>
            <a:ext cx="4462272" cy="4434840"/>
          </a:xfrm>
          <a:prstGeom prst="roundRect">
            <a:avLst>
              <a:gd name="adj" fmla="val 1649"/>
            </a:avLst>
          </a:prstGeom>
          <a:solidFill>
            <a:schemeClr val="tx2">
              <a:alpha val="55000"/>
            </a:schemeClr>
          </a:solidFill>
          <a:ln/>
        </p:spPr>
      </p:sp>
      <p:sp>
        <p:nvSpPr>
          <p:cNvPr id="7" name="Terminal ponto 1"/>
          <p:cNvSpPr/>
          <p:nvPr/>
        </p:nvSpPr>
        <p:spPr>
          <a:xfrm>
            <a:off x="7406640" y="1389888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rminal ponto 2"/>
          <p:cNvSpPr/>
          <p:nvPr/>
        </p:nvSpPr>
        <p:spPr>
          <a:xfrm>
            <a:off x="7626096" y="1389888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rminal ponto 3"/>
          <p:cNvSpPr/>
          <p:nvPr/>
        </p:nvSpPr>
        <p:spPr>
          <a:xfrm>
            <a:off x="7845552" y="1389888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Terminal texto"/>
          <p:cNvSpPr txBox="1"/>
          <p:nvPr/>
        </p:nvSpPr>
        <p:spPr>
          <a:xfrm>
            <a:off x="7406640" y="17373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python3 -m investigator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--dataset training/correlation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[ALTA] F-001 (C1+C4)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backup-agent.service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User=root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PID 2417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/opt/backup/backup.sh (0777)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gravável por não-root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CONCLUSÃO: RISCO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confiança alta · 4 fontes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Evidência isolada não é incidente</a:t>
            </a:r>
            <a:endParaRPr lang="en-US" sz="3600" dirty="0"/>
          </a:p>
        </p:txBody>
      </p:sp>
      <p:sp>
        <p:nvSpPr>
          <p:cNvPr id="3" name="Card raciocínio simplista"/>
          <p:cNvSpPr/>
          <p:nvPr/>
        </p:nvSpPr>
        <p:spPr>
          <a:xfrm>
            <a:off x="548640" y="1417320"/>
            <a:ext cx="5367528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4" name="Simplista (círculo)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Simplista (ícone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18233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Raciocínio simplista</a:t>
            </a:r>
            <a:endParaRPr lang="en-US" sz="2000" dirty="0"/>
          </a:p>
        </p:txBody>
      </p:sp>
      <p:sp>
        <p:nvSpPr>
          <p:cNvPr id="7" name="Regras rejeitadas"/>
          <p:cNvSpPr txBox="1"/>
          <p:nvPr/>
        </p:nvSpPr>
        <p:spPr>
          <a:xfrm>
            <a:off x="868680" y="26060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800" strike="sngStrike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serviço root = vulnerável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strike="sngStrike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em execução = malware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strike="sngStrike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conexão externa = C2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strike="sngStrike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arquivo 0777 = ataque</a:t>
            </a:r>
            <a:endParaRPr lang="en-US" sz="1800" dirty="0"/>
          </a:p>
        </p:txBody>
      </p:sp>
      <p:sp>
        <p:nvSpPr>
          <p:cNvPr id="8" name="Card estratégia"/>
          <p:cNvSpPr/>
          <p:nvPr/>
        </p:nvSpPr>
        <p:spPr>
          <a:xfrm>
            <a:off x="6272784" y="1417320"/>
            <a:ext cx="5367528" cy="3566160"/>
          </a:xfrm>
          <a:prstGeom prst="roundRect">
            <a:avLst>
              <a:gd name="adj" fmla="val 2051"/>
            </a:avLst>
          </a:prstGeom>
          <a:solidFill>
            <a:schemeClr val="tx1"/>
          </a:solidFill>
          <a:ln/>
        </p:spPr>
      </p:sp>
      <p:sp>
        <p:nvSpPr>
          <p:cNvPr id="9" name="Estratégia (círculo)"/>
          <p:cNvSpPr/>
          <p:nvPr/>
        </p:nvSpPr>
        <p:spPr>
          <a:xfrm>
            <a:off x="6592824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Estratégia (ícone)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196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0064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Nossa estratégia</a:t>
            </a:r>
            <a:endParaRPr lang="en-US" sz="2000" dirty="0"/>
          </a:p>
        </p:txBody>
      </p:sp>
      <p:sp>
        <p:nvSpPr>
          <p:cNvPr id="12" name="Estratégia itens"/>
          <p:cNvSpPr txBox="1"/>
          <p:nvPr/>
        </p:nvSpPr>
        <p:spPr>
          <a:xfrm>
            <a:off x="6592824" y="256032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Risco = identidade privilegiada + recurso usado + quem pode modificá-lo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RISCO só com ≥ 2 tipos de fonte independentes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Toda evidência cita sua origem (src)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Faltou dado? A resposta é INCONCLUSIVO</a:t>
            </a:r>
            <a:endParaRPr lang="en-US" sz="1600" dirty="0"/>
          </a:p>
        </p:txBody>
      </p:sp>
      <p:sp>
        <p:nvSpPr>
          <p:cNvPr id="13" name="Escopo"/>
          <p:cNvSpPr txBox="1"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Escopo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processos · permissões · serviços  +  logs, sockets e cron (live)  ·  snapshot sob demanda, sem agente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Arquitetura: um Snapshot, um pipeline</a:t>
            </a:r>
            <a:endParaRPr lang="en-US" sz="3600" dirty="0"/>
          </a:p>
        </p:txBody>
      </p:sp>
      <p:sp>
        <p:nvSpPr>
          <p:cNvPr id="3" name="Etapa 1"/>
          <p:cNvSpPr/>
          <p:nvPr/>
        </p:nvSpPr>
        <p:spPr>
          <a:xfrm>
            <a:off x="548640" y="1417320"/>
            <a:ext cx="1627632" cy="2057400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/>
        </p:spPr>
      </p:sp>
      <p:sp>
        <p:nvSpPr>
          <p:cNvPr id="4" name="Etapa 1 número"/>
          <p:cNvSpPr/>
          <p:nvPr/>
        </p:nvSpPr>
        <p:spPr>
          <a:xfrm>
            <a:off x="676656" y="1545336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76656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0574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Coleta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35000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collect_*.py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263347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Dataset do professor ou máquina ao vivo</a:t>
            </a:r>
            <a:endParaRPr lang="en-US" sz="1200" dirty="0"/>
          </a:p>
        </p:txBody>
      </p:sp>
      <p:sp>
        <p:nvSpPr>
          <p:cNvPr id="9" name="Seta 1"/>
          <p:cNvSpPr/>
          <p:nvPr/>
        </p:nvSpPr>
        <p:spPr>
          <a:xfrm rot="5400000">
            <a:off x="2226564" y="2363724"/>
            <a:ext cx="164592" cy="164592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10" name="Etapa 2"/>
          <p:cNvSpPr/>
          <p:nvPr/>
        </p:nvSpPr>
        <p:spPr>
          <a:xfrm>
            <a:off x="2441448" y="1417320"/>
            <a:ext cx="1627632" cy="2057400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/>
        </p:spPr>
      </p:sp>
      <p:sp>
        <p:nvSpPr>
          <p:cNvPr id="11" name="Etapa 2 número"/>
          <p:cNvSpPr/>
          <p:nvPr/>
        </p:nvSpPr>
        <p:spPr>
          <a:xfrm>
            <a:off x="2569464" y="1545336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69464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569464" y="20574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Normalização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69464" y="235000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normalize.py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569464" y="263347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Snapshot único: ancestralidade, vínculos e timeline</a:t>
            </a:r>
            <a:endParaRPr lang="en-US" sz="1200" dirty="0"/>
          </a:p>
        </p:txBody>
      </p:sp>
      <p:sp>
        <p:nvSpPr>
          <p:cNvPr id="16" name="Seta 2"/>
          <p:cNvSpPr/>
          <p:nvPr/>
        </p:nvSpPr>
        <p:spPr>
          <a:xfrm rot="5400000">
            <a:off x="4119372" y="2363724"/>
            <a:ext cx="164592" cy="164592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17" name="Etapa 3"/>
          <p:cNvSpPr/>
          <p:nvPr/>
        </p:nvSpPr>
        <p:spPr>
          <a:xfrm>
            <a:off x="4334256" y="1417320"/>
            <a:ext cx="1627632" cy="2057400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/>
        </p:spPr>
      </p:sp>
      <p:sp>
        <p:nvSpPr>
          <p:cNvPr id="18" name="Etapa 3 número"/>
          <p:cNvSpPr/>
          <p:nvPr/>
        </p:nvSpPr>
        <p:spPr>
          <a:xfrm>
            <a:off x="4462272" y="1545336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62272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462272" y="20574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Correlação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62272" y="235000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correlate.py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462272" y="263347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Regras C1–C4 cruzam fontes diferentes</a:t>
            </a:r>
            <a:endParaRPr lang="en-US" sz="1200" dirty="0"/>
          </a:p>
        </p:txBody>
      </p:sp>
      <p:sp>
        <p:nvSpPr>
          <p:cNvPr id="23" name="Seta 3"/>
          <p:cNvSpPr/>
          <p:nvPr/>
        </p:nvSpPr>
        <p:spPr>
          <a:xfrm rot="5400000">
            <a:off x="6012180" y="2363724"/>
            <a:ext cx="164592" cy="164592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24" name="Etapa 4"/>
          <p:cNvSpPr/>
          <p:nvPr/>
        </p:nvSpPr>
        <p:spPr>
          <a:xfrm>
            <a:off x="6227064" y="1417320"/>
            <a:ext cx="1627632" cy="2057400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/>
        </p:spPr>
      </p:sp>
      <p:sp>
        <p:nvSpPr>
          <p:cNvPr id="25" name="Etapa 4 número"/>
          <p:cNvSpPr/>
          <p:nvPr/>
        </p:nvSpPr>
        <p:spPr>
          <a:xfrm>
            <a:off x="6355080" y="1545336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55080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20574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Evidências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235000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263347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Fatos observados, cada um com src</a:t>
            </a:r>
            <a:endParaRPr lang="en-US" sz="1200" dirty="0"/>
          </a:p>
        </p:txBody>
      </p:sp>
      <p:sp>
        <p:nvSpPr>
          <p:cNvPr id="30" name="Seta 4"/>
          <p:cNvSpPr/>
          <p:nvPr/>
        </p:nvSpPr>
        <p:spPr>
          <a:xfrm rot="5400000">
            <a:off x="7904988" y="2363724"/>
            <a:ext cx="164592" cy="164592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31" name="Etapa 5"/>
          <p:cNvSpPr/>
          <p:nvPr/>
        </p:nvSpPr>
        <p:spPr>
          <a:xfrm>
            <a:off x="8119872" y="1417320"/>
            <a:ext cx="1627632" cy="2057400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/>
        </p:spPr>
      </p:sp>
      <p:sp>
        <p:nvSpPr>
          <p:cNvPr id="32" name="Etapa 5 número"/>
          <p:cNvSpPr/>
          <p:nvPr/>
        </p:nvSpPr>
        <p:spPr>
          <a:xfrm>
            <a:off x="8247888" y="1545336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47888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247888" y="20574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Hipóteses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247888" y="235000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247888" y="263347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Interpretação, hipótese e evidência ausente</a:t>
            </a:r>
            <a:endParaRPr lang="en-US" sz="1200" dirty="0"/>
          </a:p>
        </p:txBody>
      </p:sp>
      <p:sp>
        <p:nvSpPr>
          <p:cNvPr id="37" name="Seta 5"/>
          <p:cNvSpPr/>
          <p:nvPr/>
        </p:nvSpPr>
        <p:spPr>
          <a:xfrm rot="5400000">
            <a:off x="9797796" y="2363724"/>
            <a:ext cx="164592" cy="164592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38" name="Etapa 6"/>
          <p:cNvSpPr/>
          <p:nvPr/>
        </p:nvSpPr>
        <p:spPr>
          <a:xfrm>
            <a:off x="10012680" y="1417320"/>
            <a:ext cx="1627632" cy="2057400"/>
          </a:xfrm>
          <a:prstGeom prst="roundRect">
            <a:avLst>
              <a:gd name="adj" fmla="val 4494"/>
            </a:avLst>
          </a:prstGeom>
          <a:solidFill>
            <a:schemeClr val="bg2"/>
          </a:solidFill>
          <a:ln/>
        </p:spPr>
      </p:sp>
      <p:sp>
        <p:nvSpPr>
          <p:cNvPr id="39" name="Etapa 6 número"/>
          <p:cNvSpPr/>
          <p:nvPr/>
        </p:nvSpPr>
        <p:spPr>
          <a:xfrm>
            <a:off x="10140696" y="1545336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140696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140696" y="20574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Resultado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140696" y="235000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report.py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0140696" y="2633472"/>
            <a:ext cx="1408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Terminal, report.md e report.json</a:t>
            </a:r>
            <a:endParaRPr lang="en-US" sz="1200" dirty="0"/>
          </a:p>
        </p:txBody>
      </p:sp>
      <p:sp>
        <p:nvSpPr>
          <p:cNvPr id="44" name="Metade 1"/>
          <p:cNvSpPr txBox="1"/>
          <p:nvPr/>
        </p:nvSpPr>
        <p:spPr>
          <a:xfrm>
            <a:off x="548640" y="35844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Metade 1 · coleta e normalização (Galazzi)</a:t>
            </a:r>
            <a:endParaRPr lang="en-US" sz="1200" dirty="0"/>
          </a:p>
        </p:txBody>
      </p:sp>
      <p:sp>
        <p:nvSpPr>
          <p:cNvPr id="45" name="Metade 2"/>
          <p:cNvSpPr txBox="1"/>
          <p:nvPr/>
        </p:nvSpPr>
        <p:spPr>
          <a:xfrm>
            <a:off x="4334256" y="3584448"/>
            <a:ext cx="7306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Metade 2 · análise e relatório (Sardou)</a:t>
            </a:r>
            <a:endParaRPr lang="en-US" sz="1200" dirty="0"/>
          </a:p>
        </p:txBody>
      </p:sp>
      <p:sp>
        <p:nvSpPr>
          <p:cNvPr id="46" name="Princípio 1"/>
          <p:cNvSpPr/>
          <p:nvPr/>
        </p:nvSpPr>
        <p:spPr>
          <a:xfrm>
            <a:off x="548640" y="4114800"/>
            <a:ext cx="35204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7" name="Princípio 1 (círculo)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8" name="Princípio 1 (ícone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4464101"/>
            <a:ext cx="261518" cy="261518"/>
          </a:xfrm>
          <a:prstGeom prst="rect">
            <a:avLst/>
          </a:prstGeom>
        </p:spPr>
      </p:pic>
      <p:sp>
        <p:nvSpPr>
          <p:cNvPr id="49" name="Text 46"/>
          <p:cNvSpPr txBox="1"/>
          <p:nvPr/>
        </p:nvSpPr>
        <p:spPr>
          <a:xfrm>
            <a:off x="1417320" y="4343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Duas entradas, um contrato</a:t>
            </a:r>
            <a:endParaRPr lang="en-US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777240" y="4983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Dataset e coleta ao vivo viram o mesmo Snapshot; a análise não sabe a origem.</a:t>
            </a:r>
            <a:endParaRPr lang="en-US" sz="1400" dirty="0"/>
          </a:p>
        </p:txBody>
      </p:sp>
      <p:sp>
        <p:nvSpPr>
          <p:cNvPr id="51" name="Princípio 2"/>
          <p:cNvSpPr/>
          <p:nvPr/>
        </p:nvSpPr>
        <p:spPr>
          <a:xfrm>
            <a:off x="4334256" y="4114800"/>
            <a:ext cx="35204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2" name="Princípio 2 (círculo)"/>
          <p:cNvSpPr/>
          <p:nvPr/>
        </p:nvSpPr>
        <p:spPr>
          <a:xfrm>
            <a:off x="4562856" y="434340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3" name="Princípio 2 (ícone)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557" y="4464101"/>
            <a:ext cx="261518" cy="261518"/>
          </a:xfrm>
          <a:prstGeom prst="rect">
            <a:avLst/>
          </a:prstGeom>
        </p:spPr>
      </p:pic>
      <p:sp>
        <p:nvSpPr>
          <p:cNvPr id="54" name="Text 50"/>
          <p:cNvSpPr txBox="1"/>
          <p:nvPr/>
        </p:nvSpPr>
        <p:spPr>
          <a:xfrm>
            <a:off x="5202936" y="4343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Proveniência em todo fato</a:t>
            </a:r>
            <a:endParaRPr lang="en-US" sz="1600" dirty="0"/>
          </a:p>
        </p:txBody>
      </p:sp>
      <p:sp>
        <p:nvSpPr>
          <p:cNvPr id="55" name="Text 51"/>
          <p:cNvSpPr txBox="1"/>
          <p:nvPr/>
        </p:nvSpPr>
        <p:spPr>
          <a:xfrm>
            <a:off x="4562856" y="4983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fato carrega src — processes.csv:5, /proc/2417/status — e toda conclusão aponta para ele.</a:t>
            </a:r>
            <a:endParaRPr lang="en-US" sz="1400" dirty="0"/>
          </a:p>
        </p:txBody>
      </p:sp>
      <p:sp>
        <p:nvSpPr>
          <p:cNvPr id="56" name="Princípio 3"/>
          <p:cNvSpPr/>
          <p:nvPr/>
        </p:nvSpPr>
        <p:spPr>
          <a:xfrm>
            <a:off x="8119872" y="4114800"/>
            <a:ext cx="35204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7" name="Princípio 3 (círculo)"/>
          <p:cNvSpPr/>
          <p:nvPr/>
        </p:nvSpPr>
        <p:spPr>
          <a:xfrm>
            <a:off x="8348472" y="434340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8" name="Princípio 3 (ícone)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73" y="4464101"/>
            <a:ext cx="261518" cy="261518"/>
          </a:xfrm>
          <a:prstGeom prst="rect">
            <a:avLst/>
          </a:prstGeom>
        </p:spPr>
      </p:pic>
      <p:sp>
        <p:nvSpPr>
          <p:cNvPr id="59" name="Text 54"/>
          <p:cNvSpPr txBox="1"/>
          <p:nvPr/>
        </p:nvSpPr>
        <p:spPr>
          <a:xfrm>
            <a:off x="8988552" y="4343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Lacunas declaradas</a:t>
            </a:r>
            <a:endParaRPr lang="en-US" sz="1600" dirty="0"/>
          </a:p>
        </p:txBody>
      </p:sp>
      <p:sp>
        <p:nvSpPr>
          <p:cNvPr id="60" name="Text 55"/>
          <p:cNvSpPr txBox="1"/>
          <p:nvPr/>
        </p:nvSpPr>
        <p:spPr>
          <a:xfrm>
            <a:off x="8348472" y="49834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que não pôde ser coletado vai para Snapshot.gaps e aparece no relatório.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Processos, permissões e serviços</a:t>
            </a:r>
            <a:endParaRPr lang="en-US" sz="3600" dirty="0"/>
          </a:p>
        </p:txBody>
      </p:sp>
      <p:sp>
        <p:nvSpPr>
          <p:cNvPr id="3" name="Dimensão Processos"/>
          <p:cNvSpPr/>
          <p:nvPr/>
        </p:nvSpPr>
        <p:spPr>
          <a:xfrm>
            <a:off x="548640" y="1417320"/>
            <a:ext cx="3520440" cy="4663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4" name="Processos (círculo)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Processos (ícone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8233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Processos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30175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PID, PPID e usuário; UID real × efetivo no live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Cadeia de ancestralidade com a identidade de cada elo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Script real por trás do interpretador (bash → backup.sh)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Usuário → root sem sudo/su/pkexec é sinal; root → usuário é normal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577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/proc/PID/status · stat · cmdline</a:t>
            </a:r>
            <a:endParaRPr lang="en-US" sz="1100" dirty="0"/>
          </a:p>
        </p:txBody>
      </p:sp>
      <p:sp>
        <p:nvSpPr>
          <p:cNvPr id="9" name="Dimensão Permissões"/>
          <p:cNvSpPr/>
          <p:nvPr/>
        </p:nvSpPr>
        <p:spPr>
          <a:xfrm>
            <a:off x="4334256" y="1417320"/>
            <a:ext cx="3520440" cy="4663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0" name="Permissões (círculo)"/>
          <p:cNvSpPr/>
          <p:nvPr/>
        </p:nvSpPr>
        <p:spPr>
          <a:xfrm>
            <a:off x="4608576" y="169164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Permissões (ícone)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250" y="18233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94376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Permissões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08576" y="2468880"/>
            <a:ext cx="30175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nonroot_writable: o+w, grupo não-root, dono não-root ou diretório-pai gravável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SUID/SGID fora dos diretórios padrão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Coleta por contexto: só caminhos usados por serviços, processos e cron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Symlink e sticky bit (/tmp) não geram falso positivo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608576" y="5577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os.lstat · permissions.csv</a:t>
            </a:r>
            <a:endParaRPr lang="en-US" sz="1100" dirty="0"/>
          </a:p>
        </p:txBody>
      </p:sp>
      <p:sp>
        <p:nvSpPr>
          <p:cNvPr id="15" name="Dimensão Serviços"/>
          <p:cNvSpPr/>
          <p:nvPr/>
        </p:nvSpPr>
        <p:spPr>
          <a:xfrm>
            <a:off x="8119872" y="1417320"/>
            <a:ext cx="3520440" cy="4663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6" name="Serviços (círculo)"/>
          <p:cNvSpPr/>
          <p:nvPr/>
        </p:nvSpPr>
        <p:spPr>
          <a:xfrm>
            <a:off x="8394192" y="169164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Serviços (ícone)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866" y="182331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79992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Serviços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394192" y="2468880"/>
            <a:ext cx="30175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User, ExecStart, MainPID e unit file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Vínculo processo↔serviço em ordem de força: cgroup › MainPID › ExecStart › script › ancestral › nome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 método fica registrado: o vínculo é auditável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Serviço root, sozinho, nunca vira achado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394192" y="5577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show · services.txt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Quatro correlações entre fontes</a:t>
            </a:r>
            <a:endParaRPr lang="en-US" sz="3600" dirty="0"/>
          </a:p>
        </p:txBody>
      </p:sp>
      <p:sp>
        <p:nvSpPr>
          <p:cNvPr id="3" name="Correlação C1"/>
          <p:cNvSpPr/>
          <p:nvPr/>
        </p:nvSpPr>
        <p:spPr>
          <a:xfrm>
            <a:off x="548640" y="1417320"/>
            <a:ext cx="54132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C1 selo"/>
          <p:cNvSpPr/>
          <p:nvPr/>
        </p:nvSpPr>
        <p:spPr>
          <a:xfrm>
            <a:off x="822960" y="1691640"/>
            <a:ext cx="73152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Serviço + processo + permissão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16712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Serviço root → processo que o executa → cada caminho referenciado → quem pode alterá-lo, inclusive via diretório-pai.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RISCO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INCONCLUSIVO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CONTEXTO_OK</a:t>
            </a:r>
            <a:endParaRPr lang="en-US" sz="1200" dirty="0"/>
          </a:p>
        </p:txBody>
      </p:sp>
      <p:sp>
        <p:nvSpPr>
          <p:cNvPr id="9" name="Correlação C2"/>
          <p:cNvSpPr/>
          <p:nvPr/>
        </p:nvSpPr>
        <p:spPr>
          <a:xfrm>
            <a:off x="6227064" y="1417320"/>
            <a:ext cx="54132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0" name="C2 selo"/>
          <p:cNvSpPr/>
          <p:nvPr/>
        </p:nvSpPr>
        <p:spPr>
          <a:xfrm>
            <a:off x="6501384" y="1691640"/>
            <a:ext cx="73152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1384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61504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Processo + PPID + usuário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461504" y="216712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Ancestralidade com identidade: usuário → root sem sudo/su/pkexec; root rodando de /tmp ou /home; filho de serviço root com destino externo.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01384" y="3200400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RISCO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INCONCLUSIVO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CONTEXTO_OK</a:t>
            </a:r>
            <a:endParaRPr lang="en-US" sz="1200" dirty="0"/>
          </a:p>
        </p:txBody>
      </p:sp>
      <p:sp>
        <p:nvSpPr>
          <p:cNvPr id="15" name="Correlação C3"/>
          <p:cNvSpPr/>
          <p:nvPr/>
        </p:nvSpPr>
        <p:spPr>
          <a:xfrm>
            <a:off x="548640" y="3840480"/>
            <a:ext cx="54132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6" name="C3 selo"/>
          <p:cNvSpPr/>
          <p:nvPr/>
        </p:nvSpPr>
        <p:spPr>
          <a:xfrm>
            <a:off x="822960" y="4114800"/>
            <a:ext cx="73152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4114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Arquivo + usuário + uso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45902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SUID/SGID fora do padrão (e se algo o usa); gravável por todos sem vínculo privilegiado; /etc/shadow e /etc/sudoers.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623560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CONFIG_INADEQUADA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INCONCLUSIVO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CONTEXTO_OK</a:t>
            </a:r>
            <a:endParaRPr lang="en-US" sz="1200" dirty="0"/>
          </a:p>
        </p:txBody>
      </p:sp>
      <p:sp>
        <p:nvSpPr>
          <p:cNvPr id="21" name="Correlação C4"/>
          <p:cNvSpPr/>
          <p:nvPr/>
        </p:nvSpPr>
        <p:spPr>
          <a:xfrm>
            <a:off x="6227064" y="3840480"/>
            <a:ext cx="54132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2" name="C4 selo"/>
          <p:cNvSpPr/>
          <p:nvPr/>
        </p:nvSpPr>
        <p:spPr>
          <a:xfrm>
            <a:off x="6501384" y="4114800"/>
            <a:ext cx="73152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01384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461504" y="4114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Processo + serviço + log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461504" y="45902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Ordena login não-root, mtime e (re)início do serviço, enriquecendo C1. Aponta log de parada com o processo ainda vivo.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01384" y="5623560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→ 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INCONCLUSIVO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enriquece C1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 cadeia ao achado: C1 + C4</a:t>
            </a:r>
            <a:endParaRPr lang="en-US" sz="3600" dirty="0"/>
          </a:p>
        </p:txBody>
      </p:sp>
      <p:sp>
        <p:nvSpPr>
          <p:cNvPr id="3" name="Rótulo C1"/>
          <p:cNvSpPr txBox="1"/>
          <p:nvPr/>
        </p:nvSpPr>
        <p:spPr>
          <a:xfrm>
            <a:off x="548640" y="1325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C1 · relação de privilégio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 cenário tampered_after_login</a:t>
            </a:r>
            <a:endParaRPr lang="en-US" sz="1400" dirty="0"/>
          </a:p>
        </p:txBody>
      </p:sp>
      <p:sp>
        <p:nvSpPr>
          <p:cNvPr id="4" name="Elo 1"/>
          <p:cNvSpPr/>
          <p:nvPr/>
        </p:nvSpPr>
        <p:spPr>
          <a:xfrm>
            <a:off x="548640" y="1737360"/>
            <a:ext cx="21031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737360"/>
            <a:ext cx="1883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backup-agent.service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services.txt:4</a:t>
            </a:r>
            <a:endParaRPr lang="en-US" sz="1400" dirty="0"/>
          </a:p>
        </p:txBody>
      </p:sp>
      <p:sp>
        <p:nvSpPr>
          <p:cNvPr id="6" name="Seta elo 1"/>
          <p:cNvSpPr/>
          <p:nvPr/>
        </p:nvSpPr>
        <p:spPr>
          <a:xfrm rot="5400000">
            <a:off x="2706624" y="2135124"/>
            <a:ext cx="164592" cy="164592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7" name="Elo 2"/>
          <p:cNvSpPr/>
          <p:nvPr/>
        </p:nvSpPr>
        <p:spPr>
          <a:xfrm>
            <a:off x="2926080" y="1737360"/>
            <a:ext cx="15544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35808" y="1737360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User=root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services.txt:4</a:t>
            </a:r>
            <a:endParaRPr lang="en-US" sz="1400" dirty="0"/>
          </a:p>
        </p:txBody>
      </p:sp>
      <p:sp>
        <p:nvSpPr>
          <p:cNvPr id="9" name="Seta elo 2"/>
          <p:cNvSpPr/>
          <p:nvPr/>
        </p:nvSpPr>
        <p:spPr>
          <a:xfrm rot="5400000">
            <a:off x="4535424" y="2135124"/>
            <a:ext cx="164592" cy="164592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10" name="Elo 3"/>
          <p:cNvSpPr/>
          <p:nvPr/>
        </p:nvSpPr>
        <p:spPr>
          <a:xfrm>
            <a:off x="4754880" y="1737360"/>
            <a:ext cx="16459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64608" y="1737360"/>
            <a:ext cx="1426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PID 2417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processes.csv:5</a:t>
            </a:r>
            <a:endParaRPr lang="en-US" sz="1400" dirty="0"/>
          </a:p>
        </p:txBody>
      </p:sp>
      <p:sp>
        <p:nvSpPr>
          <p:cNvPr id="12" name="Seta elo 3"/>
          <p:cNvSpPr/>
          <p:nvPr/>
        </p:nvSpPr>
        <p:spPr>
          <a:xfrm rot="5400000">
            <a:off x="6455664" y="2135124"/>
            <a:ext cx="164592" cy="164592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13" name="Elo 4"/>
          <p:cNvSpPr/>
          <p:nvPr/>
        </p:nvSpPr>
        <p:spPr>
          <a:xfrm>
            <a:off x="6675120" y="1737360"/>
            <a:ext cx="25603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84848" y="1737360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/opt/backup/backup.sh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0777 · permissions.csv:3</a:t>
            </a:r>
            <a:endParaRPr lang="en-US" sz="1400" dirty="0"/>
          </a:p>
        </p:txBody>
      </p:sp>
      <p:sp>
        <p:nvSpPr>
          <p:cNvPr id="15" name="Seta elo 4"/>
          <p:cNvSpPr/>
          <p:nvPr/>
        </p:nvSpPr>
        <p:spPr>
          <a:xfrm rot="5400000">
            <a:off x="9290304" y="2135124"/>
            <a:ext cx="164592" cy="164592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16" name="Elo 5"/>
          <p:cNvSpPr/>
          <p:nvPr/>
        </p:nvSpPr>
        <p:spPr>
          <a:xfrm>
            <a:off x="9509760" y="1737360"/>
            <a:ext cx="2130552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19488" y="1737360"/>
            <a:ext cx="1911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gravável por não-root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o+w (others)</a:t>
            </a:r>
            <a:endParaRPr lang="en-US" sz="1400" dirty="0"/>
          </a:p>
        </p:txBody>
      </p:sp>
      <p:sp>
        <p:nvSpPr>
          <p:cNvPr id="18" name="Rótulo C4"/>
          <p:cNvSpPr txBox="1"/>
          <p:nvPr/>
        </p:nvSpPr>
        <p:spPr>
          <a:xfrm>
            <a:off x="548640" y="30632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C4 · reconstrução temporal</a:t>
            </a:r>
            <a:endParaRPr lang="en-US" sz="1400" dirty="0"/>
          </a:p>
        </p:txBody>
      </p:sp>
      <p:sp>
        <p:nvSpPr>
          <p:cNvPr id="19" name="Linha do tempo"/>
          <p:cNvSpPr/>
          <p:nvPr/>
        </p:nvSpPr>
        <p:spPr>
          <a:xfrm>
            <a:off x="1097280" y="4160520"/>
            <a:ext cx="99669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0" name="Evento 1"/>
          <p:cNvSpPr/>
          <p:nvPr/>
        </p:nvSpPr>
        <p:spPr>
          <a:xfrm>
            <a:off x="2057400" y="402336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4930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09:01:40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4434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Login de aluno (publickey)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journal.log:2</a:t>
            </a:r>
            <a:endParaRPr lang="en-US" sz="1400" dirty="0"/>
          </a:p>
        </p:txBody>
      </p:sp>
      <p:sp>
        <p:nvSpPr>
          <p:cNvPr id="23" name="Evento 2"/>
          <p:cNvSpPr/>
          <p:nvPr/>
        </p:nvSpPr>
        <p:spPr>
          <a:xfrm>
            <a:off x="5961888" y="402336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36008" y="34930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09:03:20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4498848" y="4434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mtime de /opt/backup/backup.sh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permissions.csv:3</a:t>
            </a:r>
            <a:endParaRPr lang="en-US" sz="1400" dirty="0"/>
          </a:p>
        </p:txBody>
      </p:sp>
      <p:sp>
        <p:nvSpPr>
          <p:cNvPr id="26" name="Evento 3"/>
          <p:cNvSpPr/>
          <p:nvPr/>
        </p:nvSpPr>
        <p:spPr>
          <a:xfrm>
            <a:off x="9829800" y="4023360"/>
            <a:ext cx="274320" cy="2743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0" y="34930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09:05:00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4434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backup-agent.service inicia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journal.log:4</a:t>
            </a:r>
            <a:endParaRPr lang="en-US" sz="1400" dirty="0"/>
          </a:p>
        </p:txBody>
      </p:sp>
      <p:sp>
        <p:nvSpPr>
          <p:cNvPr id="29" name="Leitura do achado"/>
          <p:cNvSpPr/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30" name="Leitura (círculo)"/>
          <p:cNvSpPr/>
          <p:nvPr/>
        </p:nvSpPr>
        <p:spPr>
          <a:xfrm>
            <a:off x="777240" y="546354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1" name="Leitura (ícone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5573268"/>
            <a:ext cx="237744" cy="237744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463040" y="5303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RISCO · confiança alta (4 fontes).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ordem login → modificação → início é descrita como coincidência temporal, não autoria. Isso NÃO prova exploração.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Anatomia de um achado</a:t>
            </a:r>
            <a:endParaRPr lang="en-US" sz="3600" dirty="0"/>
          </a:p>
        </p:txBody>
      </p:sp>
      <p:sp>
        <p:nvSpPr>
          <p:cNvPr id="3" name="Contexto"/>
          <p:cNvSpPr txBox="1"/>
          <p:nvPr/>
        </p:nvSpPr>
        <p:spPr>
          <a:xfrm>
            <a:off x="548640" y="1280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Achado F-001 do cenário correlation — todo achado segue estas mesmas partes, sempre separadas</a:t>
            </a:r>
            <a:endParaRPr lang="en-US" sz="1400" dirty="0"/>
          </a:p>
        </p:txBody>
      </p:sp>
      <p:sp>
        <p:nvSpPr>
          <p:cNvPr id="4" name="Rótulo EVIDÊNCIA"/>
          <p:cNvSpPr/>
          <p:nvPr/>
        </p:nvSpPr>
        <p:spPr>
          <a:xfrm>
            <a:off x="548640" y="1737360"/>
            <a:ext cx="2331720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73736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EVIDÊNCIA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observado</a:t>
            </a:r>
            <a:endParaRPr lang="en-US" sz="1400" dirty="0"/>
          </a:p>
        </p:txBody>
      </p:sp>
      <p:sp>
        <p:nvSpPr>
          <p:cNvPr id="6" name="Conteúdo EVIDÊNCIA"/>
          <p:cNvSpPr/>
          <p:nvPr/>
        </p:nvSpPr>
        <p:spPr>
          <a:xfrm>
            <a:off x="3017520" y="1737360"/>
            <a:ext cx="862279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0" y="1737360"/>
            <a:ext cx="8321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services.txt:4   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backup-agent.service  user=root  exec=/bin/bash /opt/backup/backup.sh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processes.csv:5  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pid=2417  ppid=1  user=root  cmd=/bin/bash /opt/backup/backup.sh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permissions.csv:3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/opt/backup/backup.sh  file  root:root  0777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journal.log:6    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 de aluno (publickey) a partir de 10.20.30.44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journal.log:2    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backup-agent.service iniciado após o mtime do script</a:t>
            </a:r>
            <a:endParaRPr lang="en-US" sz="1200" dirty="0"/>
          </a:p>
        </p:txBody>
      </p:sp>
      <p:sp>
        <p:nvSpPr>
          <p:cNvPr id="8" name="Rótulo INTERPRETAÇÃO"/>
          <p:cNvSpPr/>
          <p:nvPr/>
        </p:nvSpPr>
        <p:spPr>
          <a:xfrm>
            <a:off x="548640" y="2990088"/>
            <a:ext cx="233172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99008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INTERPRETAÇÃO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significado técnico</a:t>
            </a:r>
            <a:endParaRPr lang="en-US" sz="1400" dirty="0"/>
          </a:p>
        </p:txBody>
      </p:sp>
      <p:sp>
        <p:nvSpPr>
          <p:cNvPr id="10" name="Conteúdo INTERPRETAÇÃO"/>
          <p:cNvSpPr/>
          <p:nvPr/>
        </p:nvSpPr>
        <p:spPr>
          <a:xfrm>
            <a:off x="3017520" y="2990088"/>
            <a:ext cx="8622792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00400" y="299008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script executado como root pode ser alterado por qualquer usuário local (bit o+w). O mtime é anterior ao login do aluno: sem indício de modificação durante a sessão.</a:t>
            </a:r>
            <a:endParaRPr lang="en-US" sz="1400" dirty="0"/>
          </a:p>
        </p:txBody>
      </p:sp>
      <p:sp>
        <p:nvSpPr>
          <p:cNvPr id="12" name="Rótulo HIPÓTESE"/>
          <p:cNvSpPr/>
          <p:nvPr/>
        </p:nvSpPr>
        <p:spPr>
          <a:xfrm>
            <a:off x="548640" y="3785616"/>
            <a:ext cx="233172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3785616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HIPÓTESE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explicação possível</a:t>
            </a:r>
            <a:endParaRPr lang="en-US" sz="1400" dirty="0"/>
          </a:p>
        </p:txBody>
      </p:sp>
      <p:sp>
        <p:nvSpPr>
          <p:cNvPr id="14" name="Conteúdo HIPÓTESE"/>
          <p:cNvSpPr/>
          <p:nvPr/>
        </p:nvSpPr>
        <p:spPr>
          <a:xfrm>
            <a:off x="3017520" y="3785616"/>
            <a:ext cx="8622792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00400" y="3785616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usuário não privilegiado poderia inserir comandos que seriam executados como root na próxima execução do serviço.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Isso NÃO prova exploração.</a:t>
            </a:r>
            <a:endParaRPr lang="en-US" sz="1400" dirty="0"/>
          </a:p>
        </p:txBody>
      </p:sp>
      <p:sp>
        <p:nvSpPr>
          <p:cNvPr id="16" name="Rótulo EVIDÊNCIA AUSENTE"/>
          <p:cNvSpPr/>
          <p:nvPr/>
        </p:nvSpPr>
        <p:spPr>
          <a:xfrm>
            <a:off x="548640" y="4581144"/>
            <a:ext cx="233172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4581144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EVIDÊNCIA AUSENTE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o que confirmaria</a:t>
            </a:r>
            <a:endParaRPr lang="en-US" sz="1400" dirty="0"/>
          </a:p>
        </p:txBody>
      </p:sp>
      <p:sp>
        <p:nvSpPr>
          <p:cNvPr id="18" name="Conteúdo EVIDÊNCIA AUSENTE"/>
          <p:cNvSpPr/>
          <p:nvPr/>
        </p:nvSpPr>
        <p:spPr>
          <a:xfrm>
            <a:off x="3017520" y="4581144"/>
            <a:ext cx="8622792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00400" y="4581144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Hash/conteúdo de backup.sh comparado a uma versão conhecida · autor da última modificação (auditd) — o mtime pode ser forjado com touch</a:t>
            </a:r>
            <a:endParaRPr lang="en-US" sz="1400" dirty="0"/>
          </a:p>
        </p:txBody>
      </p:sp>
      <p:sp>
        <p:nvSpPr>
          <p:cNvPr id="20" name="Rótulo CONCLUSÃO"/>
          <p:cNvSpPr/>
          <p:nvPr/>
        </p:nvSpPr>
        <p:spPr>
          <a:xfrm>
            <a:off x="548640" y="5431536"/>
            <a:ext cx="233172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543153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22" name="Conteúdo CONCLUSÃO"/>
          <p:cNvSpPr/>
          <p:nvPr/>
        </p:nvSpPr>
        <p:spPr>
          <a:xfrm>
            <a:off x="3017520" y="5431536"/>
            <a:ext cx="8622792" cy="502920"/>
          </a:xfrm>
          <a:prstGeom prst="roundRect">
            <a:avLst>
              <a:gd name="adj" fmla="val 14545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00400" y="543153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RISCO · exploração não comprovada · confiança alta (log, permissão, processo, serviço)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Conclusões e confiança</a:t>
            </a:r>
            <a:endParaRPr lang="en-US" sz="3600" dirty="0"/>
          </a:p>
        </p:txBody>
      </p:sp>
      <p:sp>
        <p:nvSpPr>
          <p:cNvPr id="3" name="Cabeçalho conclusões"/>
          <p:cNvSpPr txBox="1"/>
          <p:nvPr/>
        </p:nvSpPr>
        <p:spPr>
          <a:xfrm>
            <a:off x="548640" y="1371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Quatro conclusões — duas existem para não acusar</a:t>
            </a:r>
            <a:endParaRPr lang="en-US" sz="1800" dirty="0"/>
          </a:p>
        </p:txBody>
      </p:sp>
      <p:sp>
        <p:nvSpPr>
          <p:cNvPr id="4" name="Conclusão RISCO"/>
          <p:cNvSpPr/>
          <p:nvPr/>
        </p:nvSpPr>
        <p:spPr>
          <a:xfrm>
            <a:off x="548640" y="1920240"/>
            <a:ext cx="233172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9202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Condição que permite abuso; exploração não comprovada</a:t>
            </a:r>
            <a:endParaRPr lang="en-US" sz="1400" dirty="0"/>
          </a:p>
        </p:txBody>
      </p:sp>
      <p:sp>
        <p:nvSpPr>
          <p:cNvPr id="7" name="Conclusão CONFIG_INADEQUADA"/>
          <p:cNvSpPr/>
          <p:nvPr/>
        </p:nvSpPr>
        <p:spPr>
          <a:xfrm>
            <a:off x="548640" y="2880360"/>
            <a:ext cx="233172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80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CONFIG_INADEQUADA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8803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Configuração inadequada, sem relação de privilégio demonstrada</a:t>
            </a:r>
            <a:endParaRPr lang="en-US" sz="1400" dirty="0"/>
          </a:p>
        </p:txBody>
      </p:sp>
      <p:sp>
        <p:nvSpPr>
          <p:cNvPr id="10" name="Conclusão INCONCLUSIVO"/>
          <p:cNvSpPr/>
          <p:nvPr/>
        </p:nvSpPr>
        <p:spPr>
          <a:xfrm>
            <a:off x="548640" y="3840480"/>
            <a:ext cx="233172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8404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INCONCLUSIVO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38404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Evidência insuficiente para concluir</a:t>
            </a:r>
            <a:endParaRPr lang="en-US" sz="1400" dirty="0"/>
          </a:p>
        </p:txBody>
      </p:sp>
      <p:sp>
        <p:nvSpPr>
          <p:cNvPr id="13" name="Conclusão CONTEXTO_OK"/>
          <p:cNvSpPr/>
          <p:nvPr/>
        </p:nvSpPr>
        <p:spPr>
          <a:xfrm>
            <a:off x="548640" y="4800600"/>
            <a:ext cx="233172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800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CONTEXTO_OK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48006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Relação verificada e correta — listada em “Verificações sem achado”</a:t>
            </a:r>
            <a:endParaRPr lang="en-US" sz="1400" dirty="0"/>
          </a:p>
        </p:txBody>
      </p:sp>
      <p:sp>
        <p:nvSpPr>
          <p:cNvPr id="16" name="Card confiança"/>
          <p:cNvSpPr/>
          <p:nvPr/>
        </p:nvSpPr>
        <p:spPr>
          <a:xfrm>
            <a:off x="6812280" y="1371600"/>
            <a:ext cx="4828032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86600" y="15544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Confiança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nº de tipos de fonte independentes na evidência</a:t>
            </a:r>
            <a:endParaRPr lang="en-US" sz="1400" dirty="0"/>
          </a:p>
        </p:txBody>
      </p:sp>
      <p:sp>
        <p:nvSpPr>
          <p:cNvPr id="18" name="Nível baixa"/>
          <p:cNvSpPr/>
          <p:nvPr/>
        </p:nvSpPr>
        <p:spPr>
          <a:xfrm>
            <a:off x="7086600" y="2377440"/>
            <a:ext cx="1371600" cy="685800"/>
          </a:xfrm>
          <a:prstGeom prst="roundRect">
            <a:avLst>
              <a:gd name="adj" fmla="val 10667"/>
            </a:avLst>
          </a:prstGeom>
          <a:solidFill>
            <a:schemeClr val="tx1">
              <a:alpha val="25000"/>
            </a:scheme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86600" y="2377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  </a:t>
            </a:r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baixa</a:t>
            </a:r>
            <a:endParaRPr lang="en-US" sz="1400" dirty="0"/>
          </a:p>
        </p:txBody>
      </p:sp>
      <p:sp>
        <p:nvSpPr>
          <p:cNvPr id="20" name="Nível média"/>
          <p:cNvSpPr/>
          <p:nvPr/>
        </p:nvSpPr>
        <p:spPr>
          <a:xfrm>
            <a:off x="8549640" y="2377440"/>
            <a:ext cx="1371600" cy="685800"/>
          </a:xfrm>
          <a:prstGeom prst="roundRect">
            <a:avLst>
              <a:gd name="adj" fmla="val 10667"/>
            </a:avLst>
          </a:prstGeom>
          <a:solidFill>
            <a:schemeClr val="tx1">
              <a:alpha val="55000"/>
            </a:scheme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49640" y="2377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  </a:t>
            </a:r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média</a:t>
            </a:r>
            <a:endParaRPr lang="en-US" sz="1400" dirty="0"/>
          </a:p>
        </p:txBody>
      </p:sp>
      <p:sp>
        <p:nvSpPr>
          <p:cNvPr id="22" name="Nível alta"/>
          <p:cNvSpPr/>
          <p:nvPr/>
        </p:nvSpPr>
        <p:spPr>
          <a:xfrm>
            <a:off x="10012680" y="2377440"/>
            <a:ext cx="13716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12680" y="2377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≥ 3 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alta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3200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Fontes: serviço, processo, permissão, log, socket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RISCO exige ≥ 2; com uma só, é rebaixado</a:t>
            </a:r>
            <a:endParaRPr lang="en-US" sz="1300" dirty="0"/>
          </a:p>
        </p:txBody>
      </p:sp>
      <p:sp>
        <p:nvSpPr>
          <p:cNvPr id="25" name="Card nunca sozinho"/>
          <p:cNvSpPr/>
          <p:nvPr/>
        </p:nvSpPr>
        <p:spPr>
          <a:xfrm>
            <a:off x="6812280" y="4114800"/>
            <a:ext cx="4828032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086600" y="4279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Nunca vira achado sozinho</a:t>
            </a:r>
            <a:endParaRPr lang="en-US" sz="1600" dirty="0"/>
          </a:p>
        </p:txBody>
      </p:sp>
      <p:sp>
        <p:nvSpPr>
          <p:cNvPr id="27" name="Indicador serviço root"/>
          <p:cNvSpPr/>
          <p:nvPr/>
        </p:nvSpPr>
        <p:spPr>
          <a:xfrm>
            <a:off x="7086600" y="4773168"/>
            <a:ext cx="2084832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86600" y="47731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serviço root</a:t>
            </a:r>
            <a:endParaRPr lang="en-US" sz="1200" dirty="0"/>
          </a:p>
        </p:txBody>
      </p:sp>
      <p:sp>
        <p:nvSpPr>
          <p:cNvPr id="29" name="Indicador curl, bash"/>
          <p:cNvSpPr/>
          <p:nvPr/>
        </p:nvSpPr>
        <p:spPr>
          <a:xfrm>
            <a:off x="9281160" y="4773168"/>
            <a:ext cx="2084832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81160" y="477316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curl, bash</a:t>
            </a:r>
            <a:endParaRPr lang="en-US" sz="1200" dirty="0"/>
          </a:p>
        </p:txBody>
      </p:sp>
      <p:sp>
        <p:nvSpPr>
          <p:cNvPr id="31" name="Indicador conexão externa"/>
          <p:cNvSpPr/>
          <p:nvPr/>
        </p:nvSpPr>
        <p:spPr>
          <a:xfrm>
            <a:off x="7086600" y="5248656"/>
            <a:ext cx="2084832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86600" y="524865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conexão externa</a:t>
            </a:r>
            <a:endParaRPr lang="en-US" sz="1200" dirty="0"/>
          </a:p>
        </p:txBody>
      </p:sp>
      <p:sp>
        <p:nvSpPr>
          <p:cNvPr id="33" name="Indicador SUID em /usr/bin"/>
          <p:cNvSpPr/>
          <p:nvPr/>
        </p:nvSpPr>
        <p:spPr>
          <a:xfrm>
            <a:off x="9281160" y="5248656"/>
            <a:ext cx="2084832" cy="384048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81160" y="524865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SUID em /usr/bin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Resultados nos 9 cenários</a:t>
            </a:r>
            <a:endParaRPr lang="en-US" sz="3600" dirty="0"/>
          </a:p>
        </p:txBody>
      </p:sp>
      <p:graphicFrame>
        <p:nvGraphicFramePr>
          <p:cNvPr id="10" name="Tabela de cenári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3977640"/>
                <a:gridCol w="20116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Cenário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 que a ferramenta concluiu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Conclusão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normal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Linha de base; /etc/shadow restrito verificado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CONTEXTO_OK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permission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report.sh 0777 sem execução privilegiada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CONFIG_INADEQUADA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privileged_service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Serviço root com script 0700 → sem achado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CONTEXTO_OK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correlation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Serviço root executa backup.sh 0777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RISCO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tampered_after_login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Login → mtime → início do serviço (C1+C4)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RISCO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writable_parent_dir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Script 0755 em diretório 0777 (pai gravável)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RISCO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user_to_root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bash root filho de bash do aluno, sem sudo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RISCO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ambiguous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Agente root contata destino externo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INCONCLUSIVO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missing_evidence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Permissões de /opt/x/run.sh não coletadas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INCONCLUSIVO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 números"/>
          <p:cNvSpPr/>
          <p:nvPr/>
        </p:nvSpPr>
        <p:spPr>
          <a:xfrm>
            <a:off x="9144000" y="1371600"/>
            <a:ext cx="2496312" cy="4389120"/>
          </a:xfrm>
          <a:prstGeom prst="roundRect">
            <a:avLst>
              <a:gd name="adj" fmla="val 293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372600" y="1554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51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9372600" y="221284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testes automatizados, todos passando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37260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9/9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372600" y="363016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cenários com a conclusão esperada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372600" y="4389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372600" y="504748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RISCO nos 5 cenários sem relação de privilégio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Demonstração</a:t>
            </a:r>
            <a:endParaRPr lang="en-US" sz="3600" dirty="0"/>
          </a:p>
        </p:txBody>
      </p:sp>
      <p:sp>
        <p:nvSpPr>
          <p:cNvPr id="3" name="Cabeçalho roteiro"/>
          <p:cNvSpPr txBox="1"/>
          <p:nvPr/>
        </p:nvSpPr>
        <p:spPr>
          <a:xfrm>
            <a:off x="548640" y="13716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Datasets — roteiro</a:t>
            </a:r>
            <a:endParaRPr lang="en-US" sz="1800" dirty="0"/>
          </a:p>
        </p:txBody>
      </p:sp>
      <p:sp>
        <p:nvSpPr>
          <p:cNvPr id="4" name="Passo 1"/>
          <p:cNvSpPr/>
          <p:nvPr/>
        </p:nvSpPr>
        <p:spPr>
          <a:xfrm>
            <a:off x="548640" y="2057400"/>
            <a:ext cx="438912" cy="43891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2024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Caso central: 4 fontes, “Isso NÃO prova exploração”, exit=1</a:t>
            </a:r>
            <a:endParaRPr lang="en-US" sz="1400" dirty="0"/>
          </a:p>
        </p:txBody>
      </p:sp>
      <p:sp>
        <p:nvSpPr>
          <p:cNvPr id="7" name="Passo 2"/>
          <p:cNvSpPr/>
          <p:nvPr/>
        </p:nvSpPr>
        <p:spPr>
          <a:xfrm>
            <a:off x="548640" y="2880360"/>
            <a:ext cx="438912" cy="43891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74320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tampered_after_login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Login → modificação → início do serviço</a:t>
            </a:r>
            <a:endParaRPr lang="en-US" sz="1400" dirty="0"/>
          </a:p>
        </p:txBody>
      </p:sp>
      <p:sp>
        <p:nvSpPr>
          <p:cNvPr id="10" name="Passo 3"/>
          <p:cNvSpPr/>
          <p:nvPr/>
        </p:nvSpPr>
        <p:spPr>
          <a:xfrm>
            <a:off x="548640" y="3703320"/>
            <a:ext cx="438912" cy="43891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56616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privileged_service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Root não é o gatilho: script 0700 → sem achado, exit=0</a:t>
            </a:r>
            <a:endParaRPr lang="en-US" sz="1400" dirty="0"/>
          </a:p>
        </p:txBody>
      </p:sp>
      <p:sp>
        <p:nvSpPr>
          <p:cNvPr id="13" name="Passo 4"/>
          <p:cNvSpPr/>
          <p:nvPr/>
        </p:nvSpPr>
        <p:spPr>
          <a:xfrm>
            <a:off x="548640" y="4526280"/>
            <a:ext cx="438912" cy="43891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526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38912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missing_evidence · ambiguous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Quando a ferramenta diz “não sei”</a:t>
            </a:r>
            <a:endParaRPr lang="en-US" sz="1400" dirty="0"/>
          </a:p>
        </p:txBody>
      </p:sp>
      <p:sp>
        <p:nvSpPr>
          <p:cNvPr id="16" name="Passo 5"/>
          <p:cNvSpPr/>
          <p:nvPr/>
        </p:nvSpPr>
        <p:spPr>
          <a:xfrm>
            <a:off x="548640" y="5349240"/>
            <a:ext cx="438912" cy="43891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49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21208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user_to_root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Cadeia init → sshd → bash(aluno) → bash(root)</a:t>
            </a:r>
            <a:endParaRPr lang="en-US" sz="1400" dirty="0"/>
          </a:p>
        </p:txBody>
      </p:sp>
      <p:sp>
        <p:nvSpPr>
          <p:cNvPr id="19" name="Card ao vivo"/>
          <p:cNvSpPr/>
          <p:nvPr/>
        </p:nvSpPr>
        <p:spPr>
          <a:xfrm>
            <a:off x="7086600" y="1371600"/>
            <a:ext cx="4553712" cy="4572000"/>
          </a:xfrm>
          <a:prstGeom prst="roundRect">
            <a:avLst>
              <a:gd name="adj" fmla="val 1606"/>
            </a:avLst>
          </a:prstGeom>
          <a:solidFill>
            <a:schemeClr val="tx1"/>
          </a:solidFill>
          <a:ln/>
        </p:spPr>
      </p:sp>
      <p:pic>
        <p:nvPicPr>
          <p:cNvPr id="20" name="Ícone Linux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600200"/>
            <a:ext cx="411480" cy="4114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90956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Ao vivo — VM Kali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360920" y="2194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bash lab/setup_lab.sh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python3 -m investigator --live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360920" y="30632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ei-lab-backup.service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root · script 0777</a:t>
            </a:r>
            <a:endParaRPr lang="en-US" sz="1400" dirty="0"/>
          </a:p>
        </p:txBody>
      </p:sp>
      <p:sp>
        <p:nvSpPr>
          <p:cNvPr id="24" name="Esperado ei-lab-backup.service"/>
          <p:cNvSpPr/>
          <p:nvPr/>
        </p:nvSpPr>
        <p:spPr>
          <a:xfrm>
            <a:off x="9966960" y="3154680"/>
            <a:ext cx="1417320" cy="3657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966960" y="3154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RISCO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360920" y="3703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ei-lab-safe.service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root · script 0700</a:t>
            </a:r>
            <a:endParaRPr lang="en-US" sz="1400" dirty="0"/>
          </a:p>
        </p:txBody>
      </p:sp>
      <p:sp>
        <p:nvSpPr>
          <p:cNvPr id="27" name="Esperado ei-lab-safe.service"/>
          <p:cNvSpPr/>
          <p:nvPr/>
        </p:nvSpPr>
        <p:spPr>
          <a:xfrm>
            <a:off x="9966960" y="3794760"/>
            <a:ext cx="1417320" cy="36576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966960" y="3794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CONTEXTO_OK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36092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ei-lab-id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SUID 4755 em /usr/local/bin</a:t>
            </a:r>
            <a:endParaRPr lang="en-US" sz="1400" dirty="0"/>
          </a:p>
        </p:txBody>
      </p:sp>
      <p:sp>
        <p:nvSpPr>
          <p:cNvPr id="30" name="Esperado ei-lab-id"/>
          <p:cNvSpPr/>
          <p:nvPr/>
        </p:nvSpPr>
        <p:spPr>
          <a:xfrm>
            <a:off x="9966960" y="4434840"/>
            <a:ext cx="1417320" cy="36576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966960" y="4434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INCONCLUSIVO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360920" y="4983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 8081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http.server do kali em /tmp</a:t>
            </a:r>
            <a:endParaRPr lang="en-US" sz="1400" dirty="0"/>
          </a:p>
        </p:txBody>
      </p:sp>
      <p:sp>
        <p:nvSpPr>
          <p:cNvPr id="33" name="Esperado porta 8081"/>
          <p:cNvSpPr/>
          <p:nvPr/>
        </p:nvSpPr>
        <p:spPr>
          <a:xfrm>
            <a:off x="9966960" y="5074920"/>
            <a:ext cx="1417320" cy="36576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966960" y="5074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INCONCLUSIVO</a:t>
            </a:r>
            <a:endParaRPr lang="en-US" sz="1100" dirty="0"/>
          </a:p>
        </p:txBody>
      </p:sp>
      <p:sp>
        <p:nvSpPr>
          <p:cNvPr id="35" name="Plano B"/>
          <p:cNvSpPr txBox="1"/>
          <p:nvPr/>
        </p:nvSpPr>
        <p:spPr>
          <a:xfrm>
            <a:off x="7360920" y="5577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Plano B: --live sem sudo, mostrando as lacunas declaradas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Decisões técnicas e uso de IA</a:t>
            </a:r>
            <a:endParaRPr lang="en-US" sz="3600" dirty="0"/>
          </a:p>
        </p:txBody>
      </p:sp>
      <p:sp>
        <p:nvSpPr>
          <p:cNvPr id="3" name="Python 3.10+, só biblioteca padrão (círculo)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" name="Python 3.10+, só biblioteca padrão (ícone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629461"/>
            <a:ext cx="261518" cy="26151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Python 3.10+, só biblioteca padrão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Nada a instalar no Kali; mesmo ecossistema do gerador</a:t>
            </a:r>
            <a:endParaRPr lang="en-US" sz="1400" dirty="0"/>
          </a:p>
        </p:txBody>
      </p:sp>
      <p:sp>
        <p:nvSpPr>
          <p:cNvPr id="6" name="Snapshot sob demanda, sem agente (círculo)"/>
          <p:cNvSpPr/>
          <p:nvPr/>
        </p:nvSpPr>
        <p:spPr>
          <a:xfrm>
            <a:off x="548640" y="2404872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Snapshot sob demanda, sem agente (ícone)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525573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313432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Snapshot sob demanda, sem agente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Uma execução gera um retrato do sistema</a:t>
            </a:r>
            <a:endParaRPr lang="en-US" sz="1400" dirty="0"/>
          </a:p>
        </p:txBody>
      </p:sp>
      <p:sp>
        <p:nvSpPr>
          <p:cNvPr id="9" name="Tempo em wall-clock sem fuso (círculo)"/>
          <p:cNvSpPr/>
          <p:nvPr/>
        </p:nvSpPr>
        <p:spPr>
          <a:xfrm>
            <a:off x="548640" y="3300984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Tempo em wall-clock sem fuso (ícone)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421685"/>
            <a:ext cx="261518" cy="26151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209544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Tempo em wall-clock sem fuso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Torna comparáveis mtime, login e início (CSV × journal)</a:t>
            </a:r>
            <a:endParaRPr lang="en-US" sz="1400" dirty="0"/>
          </a:p>
        </p:txBody>
      </p:sp>
      <p:sp>
        <p:nvSpPr>
          <p:cNvPr id="12" name="Coleta por contexto, não varredura (círculo)"/>
          <p:cNvSpPr/>
          <p:nvPr/>
        </p:nvSpPr>
        <p:spPr>
          <a:xfrm>
            <a:off x="548640" y="4197096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3" name="Coleta por contexto, não varredura (ícone)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4317797"/>
            <a:ext cx="261518" cy="26151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4105656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Coleta por contexto, não varredura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Só caminhos usados por serviços, processos e cron (e seus pais)</a:t>
            </a:r>
            <a:endParaRPr lang="en-US" sz="1400" dirty="0"/>
          </a:p>
        </p:txBody>
      </p:sp>
      <p:sp>
        <p:nvSpPr>
          <p:cNvPr id="15" name="Correção no gerador do professor (círculo)"/>
          <p:cNvSpPr/>
          <p:nvPr/>
        </p:nvSpPr>
        <p:spPr>
          <a:xfrm>
            <a:off x="548640" y="5093208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Correção no gerador do professor (ícone)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5213909"/>
            <a:ext cx="261518" cy="26151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500176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Correção no gerador do professor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random_noise() quebrava com --level intermediate/challenge</a:t>
            </a:r>
            <a:endParaRPr lang="en-US" sz="1400" dirty="0"/>
          </a:p>
        </p:txBody>
      </p:sp>
      <p:sp>
        <p:nvSpPr>
          <p:cNvPr id="18" name="Card IA"/>
          <p:cNvSpPr/>
          <p:nvPr/>
        </p:nvSpPr>
        <p:spPr>
          <a:xfrm>
            <a:off x="7315200" y="1417320"/>
            <a:ext cx="4325112" cy="4434840"/>
          </a:xfrm>
          <a:prstGeom prst="roundRect">
            <a:avLst>
              <a:gd name="adj" fmla="val 1691"/>
            </a:avLst>
          </a:prstGeom>
          <a:solidFill>
            <a:schemeClr val="tx1"/>
          </a:solidFill>
          <a:ln/>
        </p:spPr>
      </p:sp>
      <p:pic>
        <p:nvPicPr>
          <p:cNvPr id="19" name="Ícone I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691640"/>
            <a:ext cx="457200" cy="4572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18388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Uso de IA</a:t>
            </a:r>
            <a:endParaRPr lang="en-US" sz="2000" dirty="0"/>
          </a:p>
        </p:txBody>
      </p:sp>
      <p:sp>
        <p:nvSpPr>
          <p:cNvPr id="21" name="Text 13"/>
          <p:cNvSpPr txBox="1"/>
          <p:nvPr/>
        </p:nvSpPr>
        <p:spPr>
          <a:xfrm>
            <a:off x="7589520" y="237744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Claude (Claude Code) como apoio: arquitetura, código, testes e documentação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Regras validadas por 51 testes sobre os 9 cenários e pelo modo live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Uso registrado no documento técnico, seção “Uso de IA”</a:t>
            </a:r>
            <a:endParaRPr lang="en-US" sz="1400" dirty="0"/>
          </a:p>
        </p:txBody>
      </p:sp>
      <p:sp>
        <p:nvSpPr>
          <p:cNvPr id="22" name="Destaque sem LLM"/>
          <p:cNvSpPr/>
          <p:nvPr/>
        </p:nvSpPr>
        <p:spPr>
          <a:xfrm>
            <a:off x="7589520" y="4343400"/>
            <a:ext cx="3794760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/>
        </p:spPr>
      </p:sp>
      <p:sp>
        <p:nvSpPr>
          <p:cNvPr id="23" name="Text 15"/>
          <p:cNvSpPr txBox="1"/>
          <p:nvPr/>
        </p:nvSpPr>
        <p:spPr>
          <a:xfrm>
            <a:off x="7772400" y="434340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ferramenta não usa LLM: coleta, normalização e correlação são regras determinísticas. Não existe etapa DADOS → LLM.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Limitações e escopo</a:t>
            </a:r>
            <a:endParaRPr lang="en-US" sz="3600" dirty="0"/>
          </a:p>
        </p:txBody>
      </p:sp>
      <p:sp>
        <p:nvSpPr>
          <p:cNvPr id="3" name="Premissa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Achados são condições, não incidentes: nenhum atribui autoria nem prova exploração.</a:t>
            </a:r>
            <a:endParaRPr lang="en-US" sz="1700" dirty="0"/>
          </a:p>
        </p:txBody>
      </p:sp>
      <p:sp>
        <p:nvSpPr>
          <p:cNvPr id="4" name="Limitação Falsos positivos"/>
          <p:cNvSpPr/>
          <p:nvPr/>
        </p:nvSpPr>
        <p:spPr>
          <a:xfrm>
            <a:off x="548640" y="1965960"/>
            <a:ext cx="5413248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5" name="Falsos positivos (círculo)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Falsos positivos (ícone)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3500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Falsos positivos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4864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Escrita de grupo conta como gravável por não-root no dataset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Root filho de não-root pode vir de mecanismo legítimo</a:t>
            </a:r>
            <a:endParaRPr lang="en-US" sz="1400" dirty="0"/>
          </a:p>
        </p:txBody>
      </p:sp>
      <p:sp>
        <p:nvSpPr>
          <p:cNvPr id="9" name="Limitação Falsos negativos"/>
          <p:cNvSpPr/>
          <p:nvPr/>
        </p:nvSpPr>
        <p:spPr>
          <a:xfrm>
            <a:off x="6227064" y="1965960"/>
            <a:ext cx="5413248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10" name="Falsos negativos (círculo)"/>
          <p:cNvSpPr/>
          <p:nvPr/>
        </p:nvSpPr>
        <p:spPr>
          <a:xfrm>
            <a:off x="6501384" y="22402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Falsos negativos (ícone)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3500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41464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Falsos negativos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01384" y="2834640"/>
            <a:ext cx="4864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Cron, timers e unidades inativas ausentes do dataset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Processos efêmeros não aparecem num snapshot único</a:t>
            </a:r>
            <a:endParaRPr lang="en-US" sz="1400" dirty="0"/>
          </a:p>
        </p:txBody>
      </p:sp>
      <p:sp>
        <p:nvSpPr>
          <p:cNvPr id="14" name="Limitação Heurísticas"/>
          <p:cNvSpPr/>
          <p:nvPr/>
        </p:nvSpPr>
        <p:spPr>
          <a:xfrm>
            <a:off x="548640" y="4069080"/>
            <a:ext cx="5413248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15" name="Heurísticas (círculo)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Heurísticas (ícone)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45312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343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Heurísticas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937760"/>
            <a:ext cx="4864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Destino externo lido de argv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 ↔ atividade ligados por palavras-chave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mtime e logs podem ser forjados ou rotacionados</a:t>
            </a:r>
            <a:endParaRPr lang="en-US" sz="1400" dirty="0"/>
          </a:p>
        </p:txBody>
      </p:sp>
      <p:sp>
        <p:nvSpPr>
          <p:cNvPr id="19" name="Limitação Fora do escopo"/>
          <p:cNvSpPr/>
          <p:nvPr/>
        </p:nvSpPr>
        <p:spPr>
          <a:xfrm>
            <a:off x="6227064" y="4069080"/>
            <a:ext cx="5413248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20" name="Fora do escopo (círculo)"/>
          <p:cNvSpPr/>
          <p:nvPr/>
        </p:nvSpPr>
        <p:spPr>
          <a:xfrm>
            <a:off x="6501384" y="43434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1" name="Fora do escopo (ícone)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45312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41464" y="4343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Fora do escopo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501384" y="4937760"/>
            <a:ext cx="4864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Hashes e integridade de pacotes (dpkg --verify)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ACLs, capabilities, SELinux/AppArmor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Containers e rootkits de kernel (confia em /proc)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8016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Observar, correlacionar, explicar — e dizer quando não há evidência suficiente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46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Perguntas?</a:t>
            </a:r>
            <a:endParaRPr lang="en-US" sz="2800" dirty="0"/>
          </a:p>
        </p:txBody>
      </p:sp>
      <p:sp>
        <p:nvSpPr>
          <p:cNvPr id="4" name="Autores"/>
          <p:cNvSpPr txBox="1"/>
          <p:nvPr/>
        </p:nvSpPr>
        <p:spPr>
          <a:xfrm>
            <a:off x="640080" y="3977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Gabriel Galazzi · João Pedro Sardou</a:t>
            </a:r>
            <a:endParaRPr lang="en-US" sz="1600" dirty="0"/>
          </a:p>
        </p:txBody>
      </p:sp>
      <p:sp>
        <p:nvSpPr>
          <p:cNvPr id="5" name="Comando"/>
          <p:cNvSpPr/>
          <p:nvPr/>
        </p:nvSpPr>
        <p:spPr>
          <a:xfrm>
            <a:off x="640080" y="4846320"/>
            <a:ext cx="10908792" cy="731520"/>
          </a:xfrm>
          <a:prstGeom prst="roundRect">
            <a:avLst>
              <a:gd name="adj" fmla="val 10000"/>
            </a:avLst>
          </a:prstGeom>
          <a:solidFill>
            <a:schemeClr val="tx2">
              <a:alpha val="55000"/>
            </a:schemeClr>
          </a:solidFill>
          <a:ln/>
        </p:spPr>
      </p:sp>
      <p:sp>
        <p:nvSpPr>
          <p:cNvPr id="6" name="Comando texto"/>
          <p:cNvSpPr txBox="1"/>
          <p:nvPr/>
        </p:nvSpPr>
        <p:spPr>
          <a:xfrm>
            <a:off x="868680" y="4846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python3 -m investigator --dataset training/correlation --out reports/correlation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dpoint Investigator">
  <a:themeElements>
    <a:clrScheme name="Endpoint Investigator">
      <a:dk1>
        <a:srgbClr val="14181F"/>
      </a:dk1>
      <a:lt1>
        <a:srgbClr val="FFFFFF"/>
      </a:lt1>
      <a:dk2>
        <a:srgbClr val="3D4652"/>
      </a:dk2>
      <a:lt2>
        <a:srgbClr val="F1F3F5"/>
      </a:lt2>
      <a:accent1>
        <a:srgbClr val="E3A21A"/>
      </a:accent1>
      <a:accent2>
        <a:srgbClr val="C0392B"/>
      </a:accent2>
      <a:accent3>
        <a:srgbClr val="B45309"/>
      </a:accent3>
      <a:accent4>
        <a:srgbClr val="5B6B7F"/>
      </a:accent4>
      <a:accent5>
        <a:srgbClr val="2E7D4F"/>
      </a:accent5>
      <a:accent6>
        <a:srgbClr val="2B4C7E"/>
      </a:accent6>
      <a:hlink>
        <a:srgbClr val="2B4C7E"/>
      </a:hlink>
      <a:folHlink>
        <a:srgbClr val="5B6B7F"/>
      </a:folHlink>
    </a:clrScheme>
    <a:fontScheme name="Endpoint Investigato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Endpoint Investigator</dc:title>
  <dc:subject>Tecnologias Hackers — Avaliação Intermediária</dc:subject>
  <dc:creator>Gabriel Galazzi, João Pedro Sardou</dc:creator>
  <cp:lastModifiedBy>Gabriel Galazzi, João Pedro Sardou</cp:lastModifiedBy>
  <cp:revision>1</cp:revision>
  <dcterms:created xsi:type="dcterms:W3CDTF">2026-10-05T22:42:51Z</dcterms:created>
  <dcterms:modified xsi:type="dcterms:W3CDTF">2026-10-05T22:42:51Z</dcterms:modified>
</cp:coreProperties>
</file>